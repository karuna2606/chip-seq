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67" r:id="rId14"/>
    <p:sldId id="269" r:id="rId15"/>
    <p:sldId id="270" r:id="rId16"/>
    <p:sldId id="273" r:id="rId17"/>
    <p:sldId id="272" r:id="rId18"/>
  </p:sldIdLst>
  <p:sldSz cx="18288000" cy="10287000"/>
  <p:notesSz cx="6858000" cy="9144000"/>
  <p:embeddedFontLst>
    <p:embeddedFont>
      <p:font typeface="Gill Sans MT" panose="020B0502020104020203" pitchFamily="34" charset="0"/>
      <p:regular r:id="rId20"/>
      <p:bold r:id="rId21"/>
      <p:italic r:id="rId22"/>
      <p:boldItalic r:id="rId23"/>
    </p:embeddedFont>
    <p:embeddedFont>
      <p:font typeface="Times New Roman Bold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622" autoAdjust="0"/>
  </p:normalViewPr>
  <p:slideViewPr>
    <p:cSldViewPr>
      <p:cViewPr varScale="1">
        <p:scale>
          <a:sx n="52" d="100"/>
          <a:sy n="52" d="100"/>
        </p:scale>
        <p:origin x="78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94761-D435-448D-9BD7-6CF7B3EDA90D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777EE-4EF8-4482-B256-2477A8724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85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777EE-4EF8-4482-B256-2477A8724CD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479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2400300" y="3580116"/>
            <a:ext cx="13487400" cy="246888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57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2791" y="6528816"/>
            <a:ext cx="10202418" cy="185984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83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2400300" y="3580116"/>
            <a:ext cx="13487400" cy="246888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57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2791" y="6528698"/>
            <a:ext cx="10202418" cy="1897623"/>
          </a:xfrm>
        </p:spPr>
        <p:txBody>
          <a:bodyPr anchor="t" anchorCtr="1">
            <a:norm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87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72868" y="3957066"/>
            <a:ext cx="6407657" cy="4652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7473" y="3957066"/>
            <a:ext cx="6405371" cy="4652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2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154" y="3470150"/>
            <a:ext cx="6405372" cy="1056131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850" b="0" cap="all" spc="15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85800" indent="0">
              <a:buNone/>
              <a:defRPr sz="285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75154" y="4714875"/>
            <a:ext cx="6405372" cy="38951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507474" y="4714875"/>
            <a:ext cx="6380226" cy="3895164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07474" y="3470150"/>
            <a:ext cx="6405372" cy="1056131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850" b="0" cap="all" spc="15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85800" indent="0">
              <a:buNone/>
              <a:defRPr sz="285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19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23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17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7008" y="3365743"/>
            <a:ext cx="6729984" cy="1712246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33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4120" y="1207008"/>
            <a:ext cx="7223760" cy="7872984"/>
          </a:xfrm>
        </p:spPr>
        <p:txBody>
          <a:bodyPr>
            <a:normAutofit/>
          </a:bodyPr>
          <a:lstStyle>
            <a:lvl1pPr>
              <a:defRPr sz="285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3352" y="5324877"/>
            <a:ext cx="5692140" cy="3291054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207009" y="9354312"/>
            <a:ext cx="7687196" cy="48006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4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9143999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12785" y="3365742"/>
            <a:ext cx="6742497" cy="170196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33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3999" y="0"/>
            <a:ext cx="9153146" cy="10287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48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3352" y="5324878"/>
            <a:ext cx="5692140" cy="329105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207009" y="9354312"/>
            <a:ext cx="7687196" cy="48006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7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1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79668" y="1405890"/>
            <a:ext cx="1947912" cy="74752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46705" y="1405890"/>
            <a:ext cx="9297734" cy="74752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3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3346704" y="1447038"/>
            <a:ext cx="11594592" cy="178308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6704" y="3957067"/>
            <a:ext cx="11594592" cy="465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32144" y="9358224"/>
            <a:ext cx="4130619" cy="485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1" y="9354312"/>
            <a:ext cx="8851784" cy="480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38383" y="9326880"/>
            <a:ext cx="548640" cy="54864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650" spc="0" baseline="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0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1371600" rtl="0" eaLnBrk="1" latinLnBrk="0" hangingPunct="1">
        <a:lnSpc>
          <a:spcPct val="90000"/>
        </a:lnSpc>
        <a:spcBef>
          <a:spcPct val="0"/>
        </a:spcBef>
        <a:buNone/>
        <a:defRPr sz="4200" kern="1200" cap="all" spc="3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0287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716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7145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969295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647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2486025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24163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825998"/>
            <a:ext cx="16312959" cy="486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30"/>
              </a:lnSpc>
            </a:pPr>
            <a:r>
              <a:rPr lang="en-US" sz="90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CHIP-SEQ DATA PROCESSING PIPELINE FOR TRANSCRIPTION FACTOR BINDING SITE ANALYSIS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4297025" y="62960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039083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657548" y="293921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14542983" y="-104775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1358159"/>
                </a:moveTo>
                <a:lnTo>
                  <a:pt x="2716317" y="1358159"/>
                </a:lnTo>
                <a:lnTo>
                  <a:pt x="2716317" y="0"/>
                </a:lnTo>
                <a:lnTo>
                  <a:pt x="0" y="0"/>
                </a:lnTo>
                <a:lnTo>
                  <a:pt x="0" y="13581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5565" y="2162074"/>
            <a:ext cx="15369711" cy="7096226"/>
            <a:chOff x="0" y="0"/>
            <a:chExt cx="4047990" cy="18689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47990" cy="1868965"/>
            </a:xfrm>
            <a:custGeom>
              <a:avLst/>
              <a:gdLst/>
              <a:ahLst/>
              <a:cxnLst/>
              <a:rect l="l" t="t" r="r" b="b"/>
              <a:pathLst>
                <a:path w="4047990" h="1868965">
                  <a:moveTo>
                    <a:pt x="25689" y="0"/>
                  </a:moveTo>
                  <a:lnTo>
                    <a:pt x="4022300" y="0"/>
                  </a:lnTo>
                  <a:cubicBezTo>
                    <a:pt x="4029114" y="0"/>
                    <a:pt x="4035648" y="2707"/>
                    <a:pt x="4040465" y="7524"/>
                  </a:cubicBezTo>
                  <a:cubicBezTo>
                    <a:pt x="4045283" y="12342"/>
                    <a:pt x="4047990" y="18876"/>
                    <a:pt x="4047990" y="25689"/>
                  </a:cubicBezTo>
                  <a:lnTo>
                    <a:pt x="4047990" y="1843275"/>
                  </a:lnTo>
                  <a:cubicBezTo>
                    <a:pt x="4047990" y="1857463"/>
                    <a:pt x="4036488" y="1868965"/>
                    <a:pt x="4022300" y="1868965"/>
                  </a:cubicBezTo>
                  <a:lnTo>
                    <a:pt x="25689" y="1868965"/>
                  </a:lnTo>
                  <a:cubicBezTo>
                    <a:pt x="11502" y="1868965"/>
                    <a:pt x="0" y="1857463"/>
                    <a:pt x="0" y="1843275"/>
                  </a:cubicBezTo>
                  <a:lnTo>
                    <a:pt x="0" y="25689"/>
                  </a:lnTo>
                  <a:cubicBezTo>
                    <a:pt x="0" y="11502"/>
                    <a:pt x="11502" y="0"/>
                    <a:pt x="25689" y="0"/>
                  </a:cubicBezTo>
                  <a:close/>
                </a:path>
              </a:pathLst>
            </a:custGeom>
            <a:solidFill>
              <a:srgbClr val="C0B3A0">
                <a:alpha val="20784"/>
              </a:srgbClr>
            </a:solidFill>
            <a:ln w="47625" cap="rnd">
              <a:solidFill>
                <a:srgbClr val="000000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47990" cy="1907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618490" y="7638265"/>
            <a:ext cx="6480140" cy="3240070"/>
          </a:xfrm>
          <a:custGeom>
            <a:avLst/>
            <a:gdLst/>
            <a:ahLst/>
            <a:cxnLst/>
            <a:rect l="l" t="t" r="r" b="b"/>
            <a:pathLst>
              <a:path w="6480140" h="3240070">
                <a:moveTo>
                  <a:pt x="0" y="0"/>
                </a:moveTo>
                <a:lnTo>
                  <a:pt x="6480140" y="0"/>
                </a:lnTo>
                <a:lnTo>
                  <a:pt x="6480140" y="3240070"/>
                </a:lnTo>
                <a:lnTo>
                  <a:pt x="0" y="3240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67676" y="-1256617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563378" y="696008"/>
            <a:ext cx="8297704" cy="892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1"/>
              </a:lnSpc>
            </a:pPr>
            <a:r>
              <a:rPr lang="en-US" sz="670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5894" y="2697535"/>
            <a:ext cx="14225852" cy="5481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1"/>
              </a:lnSpc>
            </a:pPr>
            <a:r>
              <a:rPr lang="en-US" sz="28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</a:t>
            </a:r>
            <a:r>
              <a:rPr lang="en-US" sz="28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ChIP</a:t>
            </a:r>
            <a:r>
              <a:rPr lang="en-US" sz="28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-Seq?</a:t>
            </a:r>
          </a:p>
          <a:p>
            <a:pPr marL="612454" lvl="1" indent="-306227" algn="l">
              <a:lnSpc>
                <a:spcPts val="3971"/>
              </a:lnSpc>
              <a:buFont typeface="Arial"/>
              <a:buChar char="•"/>
            </a:pPr>
            <a:r>
              <a:rPr lang="en-US" sz="28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Chromatin Immunoprecipitation followed by Sequencing (</a:t>
            </a:r>
            <a:r>
              <a:rPr lang="en-US" sz="28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ChIP</a:t>
            </a:r>
            <a:r>
              <a:rPr lang="en-US" sz="28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-Seq) is a high-throughput method to study protein–DNA interactions across the genome.</a:t>
            </a:r>
          </a:p>
          <a:p>
            <a:pPr marL="612454" lvl="1" indent="-306227" algn="l">
              <a:lnSpc>
                <a:spcPts val="3971"/>
              </a:lnSpc>
              <a:buFont typeface="Arial"/>
              <a:buChar char="•"/>
            </a:pPr>
            <a:r>
              <a:rPr lang="en-US" sz="28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Identifies DNA regions bound by transcription factors (TFs), histone modifications, or chromatin regulators.</a:t>
            </a:r>
          </a:p>
          <a:p>
            <a:pPr marL="612454" lvl="1" indent="-306227" algn="l">
              <a:lnSpc>
                <a:spcPts val="3971"/>
              </a:lnSpc>
              <a:buFont typeface="Arial"/>
              <a:buChar char="•"/>
            </a:pPr>
            <a:r>
              <a:rPr lang="en-US" sz="28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genome-wide binding profiles with high resolution.</a:t>
            </a:r>
          </a:p>
          <a:p>
            <a:pPr marL="612454" lvl="1" indent="-306227" algn="l">
              <a:lnSpc>
                <a:spcPts val="3971"/>
              </a:lnSpc>
              <a:buFont typeface="Arial"/>
              <a:buChar char="•"/>
            </a:pPr>
            <a:r>
              <a:rPr lang="en-US" sz="28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in understanding gene regulation, epigenetic modifications, and cell-type specific functions.</a:t>
            </a:r>
          </a:p>
          <a:p>
            <a:pPr marL="612454" lvl="1" indent="-306227" algn="l">
              <a:lnSpc>
                <a:spcPts val="3971"/>
              </a:lnSpc>
              <a:buFont typeface="Arial"/>
              <a:buChar char="•"/>
            </a:pPr>
            <a:r>
              <a:rPr lang="en-US" sz="28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applied to normal vs diseased states to uncover regulatory differences.</a:t>
            </a:r>
          </a:p>
          <a:p>
            <a:pPr marL="612454" lvl="1" indent="-306227" algn="l">
              <a:lnSpc>
                <a:spcPts val="3971"/>
              </a:lnSpc>
              <a:buFont typeface="Arial"/>
              <a:buChar char="•"/>
            </a:pPr>
            <a:r>
              <a:rPr lang="en-US" sz="28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Widely used in projects like ENCODE to map regulatory elements in the genome.</a:t>
            </a:r>
          </a:p>
          <a:p>
            <a:pPr algn="l">
              <a:lnSpc>
                <a:spcPts val="3971"/>
              </a:lnSpc>
            </a:pPr>
            <a:endParaRPr lang="en-US" sz="283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96896" y="563562"/>
            <a:ext cx="12094209" cy="1073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DOES IT WORK?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54175" y="-1238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45016" y="2400299"/>
            <a:ext cx="10123383" cy="7594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Cells / Tissue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Crosslink DNA + Protein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 Chromatin (Sonication/Enzyme)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Immunoprecipitation (Antibody for TF)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Reverse Crosslink &amp; Purify DNA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High-Throughput Sequencing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Alignment to Reference Genome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Peak Calling (Identify TF Binding Sites)</a:t>
            </a:r>
          </a:p>
          <a:p>
            <a:pPr algn="ctr">
              <a:lnSpc>
                <a:spcPts val="3548"/>
              </a:lnSpc>
            </a:pPr>
            <a:r>
              <a:rPr lang="en-US" sz="253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3548"/>
              </a:lnSpc>
            </a:pPr>
            <a:endParaRPr lang="en-US" sz="253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2264" y="2567313"/>
            <a:ext cx="13885056" cy="113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50"/>
              </a:lnSpc>
            </a:pPr>
            <a:endParaRPr dirty="0"/>
          </a:p>
          <a:p>
            <a:pPr algn="just">
              <a:lnSpc>
                <a:spcPts val="4550"/>
              </a:lnSpc>
            </a:pPr>
            <a:endParaRPr lang="en-US" sz="32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145888" y="795663"/>
            <a:ext cx="12288749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9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 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7961452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707065" y="-1423662"/>
            <a:ext cx="6133171" cy="4114800"/>
          </a:xfrm>
          <a:custGeom>
            <a:avLst/>
            <a:gdLst/>
            <a:ahLst/>
            <a:cxnLst/>
            <a:rect l="l" t="t" r="r" b="b"/>
            <a:pathLst>
              <a:path w="6133171" h="4114800">
                <a:moveTo>
                  <a:pt x="0" y="0"/>
                </a:moveTo>
                <a:lnTo>
                  <a:pt x="6133170" y="0"/>
                </a:lnTo>
                <a:lnTo>
                  <a:pt x="61331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F2076077-EB9F-BA05-AF5E-FC9AC79F3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688367"/>
            <a:ext cx="139446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process and analyze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-Seq data in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Drosophila melanogaster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genome-wide transcription factor (TF) binding sites using the MACS2 peak calling algorithm.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TF binding enrichment across the genome using IGV.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assess peak characteristics such as the distribution of peak widths to understand TF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binding    behavior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annotate peaks with nearby genes and perform functional enrichment analysis.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354175" y="-1238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30246" y="647700"/>
            <a:ext cx="13922014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9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 WORKFLOW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66761" y="2324100"/>
            <a:ext cx="10658840" cy="7139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Data (FASTQ)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Check (</a:t>
            </a:r>
            <a:r>
              <a:rPr lang="en-US" sz="287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FastQC</a:t>
            </a: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Trimming (</a:t>
            </a:r>
            <a:r>
              <a:rPr lang="en-US" sz="287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Trimmomatic</a:t>
            </a: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Alignment to Reference Genome (BWA)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&amp; Index BAM Files (</a:t>
            </a:r>
            <a:r>
              <a:rPr lang="en-US" sz="287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Samtools</a:t>
            </a: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Peak Calling (MACS2)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⬇️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Peak Visualization (IGV / UCSC Genome Browser) </a:t>
            </a:r>
          </a:p>
          <a:p>
            <a:pPr algn="ctr">
              <a:lnSpc>
                <a:spcPts val="4022"/>
              </a:lnSpc>
            </a:pPr>
            <a:r>
              <a:rPr lang="en-US" sz="28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</p:txBody>
      </p:sp>
      <p:sp>
        <p:nvSpPr>
          <p:cNvPr id="6" name="Freeform 6"/>
          <p:cNvSpPr/>
          <p:nvPr/>
        </p:nvSpPr>
        <p:spPr>
          <a:xfrm>
            <a:off x="-6105724" y="-1464565"/>
            <a:ext cx="7468362" cy="8229600"/>
          </a:xfrm>
          <a:custGeom>
            <a:avLst/>
            <a:gdLst/>
            <a:ahLst/>
            <a:cxnLst/>
            <a:rect l="l" t="t" r="r" b="b"/>
            <a:pathLst>
              <a:path w="7468362" h="8229600">
                <a:moveTo>
                  <a:pt x="0" y="0"/>
                </a:moveTo>
                <a:lnTo>
                  <a:pt x="7468362" y="0"/>
                </a:lnTo>
                <a:lnTo>
                  <a:pt x="746836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00410" y="7537384"/>
            <a:ext cx="7368921" cy="8229600"/>
          </a:xfrm>
          <a:custGeom>
            <a:avLst/>
            <a:gdLst/>
            <a:ahLst/>
            <a:cxnLst/>
            <a:rect l="l" t="t" r="r" b="b"/>
            <a:pathLst>
              <a:path w="7368921" h="8229600">
                <a:moveTo>
                  <a:pt x="0" y="0"/>
                </a:moveTo>
                <a:lnTo>
                  <a:pt x="7368921" y="0"/>
                </a:lnTo>
                <a:lnTo>
                  <a:pt x="736892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270899" y="2335130"/>
            <a:ext cx="12087481" cy="5835476"/>
          </a:xfrm>
          <a:custGeom>
            <a:avLst/>
            <a:gdLst/>
            <a:ahLst/>
            <a:cxnLst/>
            <a:rect l="l" t="t" r="r" b="b"/>
            <a:pathLst>
              <a:path w="12087481" h="7951870">
                <a:moveTo>
                  <a:pt x="0" y="0"/>
                </a:moveTo>
                <a:lnTo>
                  <a:pt x="12087481" y="0"/>
                </a:lnTo>
                <a:lnTo>
                  <a:pt x="12087481" y="7951870"/>
                </a:lnTo>
                <a:lnTo>
                  <a:pt x="0" y="79518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3133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704456" y="628650"/>
            <a:ext cx="16554844" cy="178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0"/>
              </a:lnSpc>
            </a:pPr>
            <a:r>
              <a:rPr lang="en-US" sz="7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COMPARISON WITH OTHER PIPELINES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86859" y="1171575"/>
            <a:ext cx="13236427" cy="107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6"/>
              </a:lnSpc>
            </a:pPr>
            <a:r>
              <a:rPr lang="en-US" sz="80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DATASET INFORMATION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54175" y="-1238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25786" y="2933700"/>
            <a:ext cx="12561813" cy="4523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084"/>
              </a:lnSpc>
              <a:buFont typeface="Arial" panose="020B0604020202020204" pitchFamily="34" charset="0"/>
              <a:buChar char="•"/>
            </a:pPr>
            <a:r>
              <a:rPr lang="en-US" sz="36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ENCODE Project (Experiment ID: ENCSR128VHN)</a:t>
            </a:r>
          </a:p>
          <a:p>
            <a:pPr marL="571500" indent="-571500">
              <a:lnSpc>
                <a:spcPts val="5084"/>
              </a:lnSpc>
              <a:buFont typeface="Arial" panose="020B0604020202020204" pitchFamily="34" charset="0"/>
              <a:buChar char="•"/>
            </a:pPr>
            <a:r>
              <a:rPr lang="en-US" sz="36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Organism: Drosophila melanogaster (genome build: dm6)</a:t>
            </a:r>
          </a:p>
          <a:p>
            <a:pPr marL="571500" indent="-571500">
              <a:lnSpc>
                <a:spcPts val="5084"/>
              </a:lnSpc>
              <a:buFont typeface="Arial" panose="020B0604020202020204" pitchFamily="34" charset="0"/>
              <a:buChar char="•"/>
            </a:pPr>
            <a:r>
              <a:rPr lang="en-US" sz="36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Factor: </a:t>
            </a:r>
            <a:r>
              <a:rPr lang="en-US" sz="363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dsx</a:t>
            </a:r>
            <a:r>
              <a:rPr lang="en-US" sz="36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363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Doublesex</a:t>
            </a:r>
            <a:r>
              <a:rPr lang="en-US" sz="36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transcription factor)</a:t>
            </a:r>
          </a:p>
          <a:p>
            <a:pPr marL="571500" indent="-571500">
              <a:lnSpc>
                <a:spcPts val="5084"/>
              </a:lnSpc>
              <a:buFont typeface="Arial" panose="020B0604020202020204" pitchFamily="34" charset="0"/>
              <a:buChar char="•"/>
            </a:pPr>
            <a:r>
              <a:rPr lang="en-US" sz="36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Sequencing platform: Illumina </a:t>
            </a:r>
            <a:r>
              <a:rPr lang="en-US" sz="363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HiSeq</a:t>
            </a:r>
            <a:r>
              <a:rPr lang="en-US" sz="36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4000</a:t>
            </a:r>
          </a:p>
          <a:p>
            <a:pPr marL="571500" indent="-571500">
              <a:lnSpc>
                <a:spcPts val="5084"/>
              </a:lnSpc>
              <a:buFont typeface="Arial" panose="020B0604020202020204" pitchFamily="34" charset="0"/>
              <a:buChar char="•"/>
            </a:pPr>
            <a:r>
              <a:rPr lang="en-US" sz="36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type: Single-end</a:t>
            </a:r>
          </a:p>
          <a:p>
            <a:pPr marL="571500" indent="-571500">
              <a:lnSpc>
                <a:spcPts val="5084"/>
              </a:lnSpc>
              <a:buFont typeface="Arial" panose="020B0604020202020204" pitchFamily="34" charset="0"/>
              <a:buChar char="•"/>
            </a:pPr>
            <a:r>
              <a:rPr lang="en-US" sz="36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length: 50 bp</a:t>
            </a:r>
          </a:p>
          <a:p>
            <a:pPr marL="571500" indent="-571500">
              <a:lnSpc>
                <a:spcPts val="5084"/>
              </a:lnSpc>
              <a:buFont typeface="Arial" panose="020B0604020202020204" pitchFamily="34" charset="0"/>
              <a:buChar char="•"/>
            </a:pPr>
            <a:r>
              <a:rPr lang="en-US" sz="36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reads: ~426–635 MB per replicate (Replicate 1: 426 MB)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5972490" y="900019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25787" y="858728"/>
            <a:ext cx="13236427" cy="1060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46"/>
              </a:lnSpc>
            </a:pPr>
            <a:r>
              <a:rPr lang="en-US" sz="79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COMMANDS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65120" y="1714500"/>
            <a:ext cx="14232002" cy="846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76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Download Data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Downloaded data from Encode database using </a:t>
            </a:r>
            <a:r>
              <a:rPr lang="en-US" sz="2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wget</a:t>
            </a: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command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76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Quality Check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pt-BR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fastqc raw_data/*.fastq.gz -o qc_results/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76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Trimming (adapter &amp; low-quality bases)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76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trimmomatic</a:t>
            </a:r>
            <a:r>
              <a:rPr lang="en-US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SE -threads 4 \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ENCFF086MDA</a:t>
            </a:r>
            <a:r>
              <a:rPr lang="en-US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.fastq.gz \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../trim/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ENCFF086MDA </a:t>
            </a:r>
            <a:r>
              <a:rPr lang="en-US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_trimmed.fq.gz \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ILLUMINACLIP:/home/karuna/miniconda3/</a:t>
            </a:r>
            <a:r>
              <a:rPr lang="en-US" sz="2500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envs</a:t>
            </a:r>
            <a:r>
              <a:rPr lang="en-US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/</a:t>
            </a:r>
            <a:r>
              <a:rPr lang="en-US" sz="2500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env_sda</a:t>
            </a:r>
            <a:r>
              <a:rPr lang="en-US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/share/</a:t>
            </a:r>
            <a:r>
              <a:rPr lang="en-US" sz="2500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trimmomatic</a:t>
            </a:r>
            <a:r>
              <a:rPr lang="en-US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/adapters/TruSeq3-SE.fa:2:30:10 \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LEADING:3 TRAILING:3 SLIDINGWINDOW:4:20 MINLEN:36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76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Alignment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de-DE" sz="250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bwa index  /genomes/dm6.fa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bwa mem -t 4 ~/genomes/dm6.fa /home/karuna/</a:t>
            </a:r>
            <a:r>
              <a:rPr lang="en-US" sz="2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Chip_Seq</a:t>
            </a: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/trim/ENCFF863UPI_trimmed.fq.gz &gt; /home/karuna/</a:t>
            </a:r>
            <a:r>
              <a:rPr lang="en-US" sz="25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Chip_Seq</a:t>
            </a: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/aligned/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ENCFF086MDA</a:t>
            </a: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.sam</a:t>
            </a:r>
          </a:p>
          <a:p>
            <a:pPr>
              <a:lnSpc>
                <a:spcPts val="3875"/>
              </a:lnSpc>
              <a:spcBef>
                <a:spcPct val="0"/>
              </a:spcBef>
            </a:pPr>
            <a:endParaRPr lang="en-US" sz="276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ts val="3875"/>
              </a:lnSpc>
              <a:spcBef>
                <a:spcPct val="0"/>
              </a:spcBef>
            </a:pPr>
            <a:endParaRPr lang="en-US" sz="276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354175" y="-1238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799290" y="900019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05000" y="1333500"/>
            <a:ext cx="14853881" cy="5076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Convert SAM → BAM, sort, and index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samtools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-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/home/karuna/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Chip_Seq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/aligned/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ENCFF086MDA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.sam &gt; 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/home/karuna/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Chip_Seq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/aligned/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ENCFF086MDA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.bam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samtools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sort /home/karuna/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Chip_Seq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/aligned/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ENCFF086MDA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.bam –o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/home/karuna/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Chip_Seq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/aligned/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ENCFF086MDA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.sorted.bam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samtools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 /home/karuna/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Chip_Seq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/aligned/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ENCFF086MDA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.sorted.bam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4993"/>
              </a:lnSpc>
              <a:spcBef>
                <a:spcPct val="0"/>
              </a:spcBef>
            </a:pPr>
            <a:endParaRPr lang="en-US" sz="356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42999" y="800100"/>
            <a:ext cx="15622823" cy="6323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Calling with MACS2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macs2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callpeak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-t /home/karuna/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Chip_Seq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/aligned/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ENCFF086MDA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.sorted.bam \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-c /home/karuna/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Chip_Seq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/aligned/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control.sorted.bam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-f BAM \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-g dm \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-n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ENCFF086MDA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--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outdir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/home/karuna/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Chip_Seq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/macs2/</a:t>
            </a:r>
          </a:p>
          <a:p>
            <a:pPr>
              <a:lnSpc>
                <a:spcPts val="4993"/>
              </a:lnSpc>
              <a:spcBef>
                <a:spcPct val="0"/>
              </a:spcBef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4699"/>
              </a:lnSpc>
              <a:spcBef>
                <a:spcPct val="0"/>
              </a:spcBef>
            </a:pPr>
            <a:endParaRPr lang="en-US" sz="335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6AA53-C1C9-A6D6-BEC9-D0420634A7D3}"/>
              </a:ext>
            </a:extLst>
          </p:cNvPr>
          <p:cNvSpPr txBox="1"/>
          <p:nvPr/>
        </p:nvSpPr>
        <p:spPr>
          <a:xfrm>
            <a:off x="1143000" y="6286500"/>
            <a:ext cx="143256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your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ChIP-seq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BAM (treatment)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control/input BAM (optional but recommended; if none, skip this)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BAM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input file format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dm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genome size for Drosophila</a:t>
            </a:r>
          </a:p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ENCFF086MDA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name prefix for output files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outdir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directory to save peak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383ABA-77B2-AE83-0A0A-5BD8DD6CE915}"/>
              </a:ext>
            </a:extLst>
          </p:cNvPr>
          <p:cNvSpPr txBox="1"/>
          <p:nvPr/>
        </p:nvSpPr>
        <p:spPr>
          <a:xfrm>
            <a:off x="1295400" y="1181100"/>
            <a:ext cx="14401800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Peak Annotation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annotatePeaks.pl ENCFF086MDA_peaks.narrowPeak dm6 &gt; ENCFF086MDA_annotated.txt--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71A772-782B-854D-1824-32299EBC9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842359"/>
            <a:ext cx="145542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HOMER's annotatePeaks.pl to 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gene annotations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ChIP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-seq peaks.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ENCFF086MDA_peaks.narrowPeak: input peak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dm6: Drosophila melanogaster genome (build 6).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saved to ENCFF086MDA_annotated.txt</a:t>
            </a: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69150050-BA7D-D7B1-BB00-4F373B450022}"/>
              </a:ext>
            </a:extLst>
          </p:cNvPr>
          <p:cNvSpPr/>
          <p:nvPr/>
        </p:nvSpPr>
        <p:spPr>
          <a:xfrm>
            <a:off x="12153900" y="7890633"/>
            <a:ext cx="6134100" cy="2396367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0DD1BE85-80AF-2335-D177-FF6A07FDFD83}"/>
              </a:ext>
            </a:extLst>
          </p:cNvPr>
          <p:cNvSpPr/>
          <p:nvPr/>
        </p:nvSpPr>
        <p:spPr>
          <a:xfrm>
            <a:off x="-2100229" y="6972300"/>
            <a:ext cx="4200457" cy="4114800"/>
          </a:xfrm>
          <a:custGeom>
            <a:avLst/>
            <a:gdLst/>
            <a:ahLst/>
            <a:cxnLst/>
            <a:rect l="l" t="t" r="r" b="b"/>
            <a:pathLst>
              <a:path w="4200457" h="4114800">
                <a:moveTo>
                  <a:pt x="0" y="0"/>
                </a:moveTo>
                <a:lnTo>
                  <a:pt x="4200457" y="0"/>
                </a:lnTo>
                <a:lnTo>
                  <a:pt x="42004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64782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54175" y="-1238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2838" y="625453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25787" y="858728"/>
            <a:ext cx="13236427" cy="1060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46"/>
              </a:lnSpc>
            </a:pPr>
            <a:r>
              <a:rPr lang="en-US" sz="79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EE0D00D-BE70-3461-0213-2E9796CD402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086600" y="0"/>
            <a:ext cx="112014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61DD5F-8D73-498B-9FB2-05D9E8FEA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7543" y="1861679"/>
            <a:ext cx="12812913" cy="65636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35753" y="892382"/>
            <a:ext cx="13236427" cy="1060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46"/>
              </a:lnSpc>
            </a:pPr>
            <a:r>
              <a:rPr lang="en-US" sz="79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211950" y="2047435"/>
            <a:ext cx="5808549" cy="124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Fastqc Reports</a:t>
            </a:r>
          </a:p>
          <a:p>
            <a:pPr algn="ctr">
              <a:lnSpc>
                <a:spcPts val="4759"/>
              </a:lnSpc>
            </a:pPr>
            <a:endParaRPr lang="en-US" sz="33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5B8E3A-D02E-E3AC-A471-8E9AECB310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467100"/>
            <a:ext cx="8229600" cy="4853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8B86FB-7402-6346-354A-042E2F63F2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3390900"/>
            <a:ext cx="8382000" cy="48490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63358" y="-1789318"/>
            <a:ext cx="8846279" cy="5935049"/>
          </a:xfrm>
          <a:custGeom>
            <a:avLst/>
            <a:gdLst/>
            <a:ahLst/>
            <a:cxnLst/>
            <a:rect l="l" t="t" r="r" b="b"/>
            <a:pathLst>
              <a:path w="8846279" h="5935049">
                <a:moveTo>
                  <a:pt x="0" y="0"/>
                </a:moveTo>
                <a:lnTo>
                  <a:pt x="8846279" y="0"/>
                </a:lnTo>
                <a:lnTo>
                  <a:pt x="8846279" y="5935048"/>
                </a:lnTo>
                <a:lnTo>
                  <a:pt x="0" y="593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29490" y="7035189"/>
            <a:ext cx="4200457" cy="4114800"/>
          </a:xfrm>
          <a:custGeom>
            <a:avLst/>
            <a:gdLst/>
            <a:ahLst/>
            <a:cxnLst/>
            <a:rect l="l" t="t" r="r" b="b"/>
            <a:pathLst>
              <a:path w="4200457" h="4114800">
                <a:moveTo>
                  <a:pt x="0" y="0"/>
                </a:moveTo>
                <a:lnTo>
                  <a:pt x="4200457" y="0"/>
                </a:lnTo>
                <a:lnTo>
                  <a:pt x="42004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44262" y="638492"/>
            <a:ext cx="6936939" cy="64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IGV Visualization of TF Binding Peak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987640-EDB7-0B7A-6B5E-3F311C8BF1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25415"/>
            <a:ext cx="12725400" cy="67627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2F5E8D-EA4C-E5B7-F06D-E2943B4C4453}"/>
              </a:ext>
            </a:extLst>
          </p:cNvPr>
          <p:cNvSpPr txBox="1"/>
          <p:nvPr/>
        </p:nvSpPr>
        <p:spPr>
          <a:xfrm>
            <a:off x="13639800" y="2476500"/>
            <a:ext cx="35814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IGV view shows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-seq signal enrichment (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bigWig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MACS2-identified peaks (BED) across a ~49 kb region of chr2L, highlighting transcription factor binding near multiple genes, including </a:t>
            </a:r>
            <a:r>
              <a:rPr lang="en-US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CycK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Clamp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26891" y="5143500"/>
            <a:ext cx="8572500" cy="8229600"/>
          </a:xfrm>
          <a:custGeom>
            <a:avLst/>
            <a:gdLst/>
            <a:ahLst/>
            <a:cxnLst/>
            <a:rect l="l" t="t" r="r" b="b"/>
            <a:pathLst>
              <a:path w="8572500" h="8229600">
                <a:moveTo>
                  <a:pt x="0" y="0"/>
                </a:moveTo>
                <a:lnTo>
                  <a:pt x="8572500" y="0"/>
                </a:lnTo>
                <a:lnTo>
                  <a:pt x="85725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63870" y="-1018976"/>
            <a:ext cx="4721733" cy="8229600"/>
          </a:xfrm>
          <a:custGeom>
            <a:avLst/>
            <a:gdLst/>
            <a:ahLst/>
            <a:cxnLst/>
            <a:rect l="l" t="t" r="r" b="b"/>
            <a:pathLst>
              <a:path w="4721733" h="8229600">
                <a:moveTo>
                  <a:pt x="0" y="0"/>
                </a:moveTo>
                <a:lnTo>
                  <a:pt x="4721733" y="0"/>
                </a:lnTo>
                <a:lnTo>
                  <a:pt x="47217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54331" y="895350"/>
            <a:ext cx="8861227" cy="11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Peak Widths</a:t>
            </a:r>
            <a:endParaRPr lang="en-US" sz="3399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 algn="ctr">
              <a:lnSpc>
                <a:spcPts val="4759"/>
              </a:lnSpc>
            </a:pPr>
            <a:endParaRPr lang="en-US" sz="3399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134600" y="2037715"/>
            <a:ext cx="6937869" cy="4835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78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78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78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peak widths shows that most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-seq peaks are narrow (100–300 bp), consistent with transcription factor binding to specific DNA motifs. A smaller number of broader peaks (&gt;500 bp) may correspond to regulatory regions with multiple binding sites or open chromatin.</a:t>
            </a:r>
            <a:endParaRPr lang="en-US" sz="27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F10FEE-EE55-F0EC-D2FA-161AC575D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71699"/>
            <a:ext cx="9296400" cy="69961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C14D75-4597-7FCC-8BA0-2F2A4F8FA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38300"/>
            <a:ext cx="9317758" cy="708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81DF66-4841-851C-CE1C-28B7DC67C4AB}"/>
              </a:ext>
            </a:extLst>
          </p:cNvPr>
          <p:cNvSpPr txBox="1"/>
          <p:nvPr/>
        </p:nvSpPr>
        <p:spPr>
          <a:xfrm>
            <a:off x="10058400" y="3467100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60A0A-6E36-D595-0150-4B97CA2C52B9}"/>
              </a:ext>
            </a:extLst>
          </p:cNvPr>
          <p:cNvSpPr txBox="1"/>
          <p:nvPr/>
        </p:nvSpPr>
        <p:spPr>
          <a:xfrm>
            <a:off x="685800" y="495300"/>
            <a:ext cx="1226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GO Biological Process Enrichment: Key Functional Themes in Gene Set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51F74-C0A9-ABD3-65B3-D4834BCB68A6}"/>
              </a:ext>
            </a:extLst>
          </p:cNvPr>
          <p:cNvSpPr txBox="1"/>
          <p:nvPr/>
        </p:nvSpPr>
        <p:spPr>
          <a:xfrm>
            <a:off x="10363200" y="1714500"/>
            <a:ext cx="73914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bubble plot visualizes enriched Gene Ontology (GO)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Processes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the input gene set. Each dot represents a GO term, where: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 (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GeneRatio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Proportion of genes from the dataset associated with the GO term.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Size (Count):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genes enriched in each biological process.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Color (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p.adjust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Statistical significance of enrichment (adjusted p-value), with darker red indicating more significant terms.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highlights a strong enrichment in processes related to: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morphogenesis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metamorphosis, tissue morphogenesis, appendage development),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Neuronal processes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neuron projection development, axon development),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cellular structural organization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cell projection morphogenesis).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016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3997" y="6302224"/>
            <a:ext cx="5087993" cy="4984237"/>
          </a:xfrm>
          <a:custGeom>
            <a:avLst/>
            <a:gdLst/>
            <a:ahLst/>
            <a:cxnLst/>
            <a:rect l="l" t="t" r="r" b="b"/>
            <a:pathLst>
              <a:path w="5087993" h="4984237">
                <a:moveTo>
                  <a:pt x="0" y="0"/>
                </a:moveTo>
                <a:lnTo>
                  <a:pt x="5087994" y="0"/>
                </a:lnTo>
                <a:lnTo>
                  <a:pt x="5087994" y="4984237"/>
                </a:lnTo>
                <a:lnTo>
                  <a:pt x="0" y="4984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29485" y="-1446473"/>
            <a:ext cx="5926198" cy="5747088"/>
          </a:xfrm>
          <a:custGeom>
            <a:avLst/>
            <a:gdLst/>
            <a:ahLst/>
            <a:cxnLst/>
            <a:rect l="l" t="t" r="r" b="b"/>
            <a:pathLst>
              <a:path w="5926198" h="5747088">
                <a:moveTo>
                  <a:pt x="0" y="0"/>
                </a:moveTo>
                <a:lnTo>
                  <a:pt x="5926198" y="0"/>
                </a:lnTo>
                <a:lnTo>
                  <a:pt x="5926198" y="5747088"/>
                </a:lnTo>
                <a:lnTo>
                  <a:pt x="0" y="5747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90184" y="-1067730"/>
            <a:ext cx="7468362" cy="8229600"/>
          </a:xfrm>
          <a:custGeom>
            <a:avLst/>
            <a:gdLst/>
            <a:ahLst/>
            <a:cxnLst/>
            <a:rect l="l" t="t" r="r" b="b"/>
            <a:pathLst>
              <a:path w="7468362" h="8229600">
                <a:moveTo>
                  <a:pt x="0" y="0"/>
                </a:moveTo>
                <a:lnTo>
                  <a:pt x="7468362" y="0"/>
                </a:lnTo>
                <a:lnTo>
                  <a:pt x="746836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80901" y="3644048"/>
            <a:ext cx="6726198" cy="2184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98"/>
              </a:lnSpc>
              <a:spcBef>
                <a:spcPct val="0"/>
              </a:spcBef>
            </a:pPr>
            <a:r>
              <a:rPr lang="en-US" sz="114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669</TotalTime>
  <Words>1065</Words>
  <Application>Microsoft Office PowerPoint</Application>
  <PresentationFormat>Custom</PresentationFormat>
  <Paragraphs>123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Gill Sans MT</vt:lpstr>
      <vt:lpstr>Times New Roman</vt:lpstr>
      <vt:lpstr>Calibri</vt:lpstr>
      <vt:lpstr>Times New Roman Bold</vt:lpstr>
      <vt:lpstr>Arial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Ivory Black Simple Geometric Research Project Presentation</dc:title>
  <cp:lastModifiedBy>Karuna Yadav</cp:lastModifiedBy>
  <cp:revision>10</cp:revision>
  <dcterms:created xsi:type="dcterms:W3CDTF">2006-08-16T00:00:00Z</dcterms:created>
  <dcterms:modified xsi:type="dcterms:W3CDTF">2025-09-20T06:34:03Z</dcterms:modified>
  <dc:identifier>DAGyZ09TA5U</dc:identifier>
</cp:coreProperties>
</file>